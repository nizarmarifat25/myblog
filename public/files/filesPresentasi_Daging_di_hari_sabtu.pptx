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Faustina" panose="020B0604020202020204" charset="0"/>
      <p:regular r:id="rId15"/>
    </p:embeddedFont>
    <p:embeddedFont>
      <p:font typeface="Muli" panose="020B0604020202020204" charset="0"/>
      <p:regular r:id="rId16"/>
    </p:embeddedFont>
    <p:embeddedFont>
      <p:font typeface="Muli Bold" panose="020B0604020202020204" charset="0"/>
      <p:regular r:id="rId17"/>
    </p:embeddedFont>
    <p:embeddedFont>
      <p:font typeface="Muli Semi-Bold" panose="020B0604020202020204" charset="0"/>
      <p:regular r:id="rId18"/>
    </p:embeddedFont>
    <p:embeddedFont>
      <p:font typeface="Muli Ultra-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15284" y="8190415"/>
            <a:ext cx="825500" cy="825500"/>
            <a:chOff x="0" y="0"/>
            <a:chExt cx="1100667" cy="1100667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100667" cy="1100667"/>
              <a:chOff x="0" y="0"/>
              <a:chExt cx="660400" cy="660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60400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660400">
                    <a:moveTo>
                      <a:pt x="535940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35940" y="0"/>
                    </a:lnTo>
                    <a:cubicBezTo>
                      <a:pt x="604520" y="0"/>
                      <a:pt x="660400" y="55880"/>
                      <a:pt x="660400" y="124460"/>
                    </a:cubicBezTo>
                    <a:lnTo>
                      <a:pt x="660400" y="535940"/>
                    </a:lnTo>
                    <a:cubicBezTo>
                      <a:pt x="660400" y="604520"/>
                      <a:pt x="604520" y="660400"/>
                      <a:pt x="535940" y="660400"/>
                    </a:cubicBezTo>
                    <a:close/>
                  </a:path>
                </a:pathLst>
              </a:custGeom>
              <a:solidFill>
                <a:srgbClr val="F36825"/>
              </a:solidFill>
            </p:spPr>
          </p:sp>
        </p:grpSp>
        <p:grpSp>
          <p:nvGrpSpPr>
            <p:cNvPr id="5" name="Group 5"/>
            <p:cNvGrpSpPr/>
            <p:nvPr/>
          </p:nvGrpSpPr>
          <p:grpSpPr>
            <a:xfrm rot="-5400000">
              <a:off x="436385" y="452780"/>
              <a:ext cx="290178" cy="195107"/>
              <a:chOff x="0" y="0"/>
              <a:chExt cx="1930400" cy="129794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930400" cy="1297940"/>
              </a:xfrm>
              <a:custGeom>
                <a:avLst/>
                <a:gdLst/>
                <a:ahLst/>
                <a:cxnLst/>
                <a:rect l="l" t="t" r="r" b="b"/>
                <a:pathLst>
                  <a:path w="1930400" h="1297940">
                    <a:moveTo>
                      <a:pt x="0" y="0"/>
                    </a:moveTo>
                    <a:lnTo>
                      <a:pt x="965200" y="1297940"/>
                    </a:lnTo>
                    <a:lnTo>
                      <a:pt x="19304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sp>
        <p:nvSpPr>
          <p:cNvPr id="7" name="Freeform 7"/>
          <p:cNvSpPr/>
          <p:nvPr/>
        </p:nvSpPr>
        <p:spPr>
          <a:xfrm>
            <a:off x="7696152" y="1550867"/>
            <a:ext cx="9782585" cy="6639548"/>
          </a:xfrm>
          <a:custGeom>
            <a:avLst/>
            <a:gdLst/>
            <a:ahLst/>
            <a:cxnLst/>
            <a:rect l="l" t="t" r="r" b="b"/>
            <a:pathLst>
              <a:path w="9782585" h="6639548">
                <a:moveTo>
                  <a:pt x="0" y="0"/>
                </a:moveTo>
                <a:lnTo>
                  <a:pt x="9782585" y="0"/>
                </a:lnTo>
                <a:lnTo>
                  <a:pt x="9782585" y="6639548"/>
                </a:lnTo>
                <a:lnTo>
                  <a:pt x="0" y="66395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8593640"/>
            <a:ext cx="465182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E2C4B"/>
                </a:solidFill>
                <a:latin typeface="Muli"/>
                <a:ea typeface="Muli"/>
                <a:cs typeface="Muli"/>
                <a:sym typeface="Muli"/>
              </a:rPr>
              <a:t>By: Muhammad Nizar Marifat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011441"/>
            <a:ext cx="6337347" cy="458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0000" b="1">
                <a:solidFill>
                  <a:srgbClr val="F36825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Daging Di Hari Sabtu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7180" y="236488"/>
            <a:ext cx="9381148" cy="9814023"/>
            <a:chOff x="0" y="0"/>
            <a:chExt cx="7504918" cy="78512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504919" cy="7851218"/>
            </a:xfrm>
            <a:custGeom>
              <a:avLst/>
              <a:gdLst/>
              <a:ahLst/>
              <a:cxnLst/>
              <a:rect l="l" t="t" r="r" b="b"/>
              <a:pathLst>
                <a:path w="7504919" h="7851218">
                  <a:moveTo>
                    <a:pt x="7380458" y="7851218"/>
                  </a:moveTo>
                  <a:lnTo>
                    <a:pt x="124460" y="7851218"/>
                  </a:lnTo>
                  <a:cubicBezTo>
                    <a:pt x="55880" y="7851218"/>
                    <a:pt x="0" y="7795338"/>
                    <a:pt x="0" y="772675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7380459" y="0"/>
                  </a:lnTo>
                  <a:cubicBezTo>
                    <a:pt x="7449038" y="0"/>
                    <a:pt x="7504919" y="55880"/>
                    <a:pt x="7504919" y="124460"/>
                  </a:cubicBezTo>
                  <a:lnTo>
                    <a:pt x="7504919" y="7726759"/>
                  </a:lnTo>
                  <a:cubicBezTo>
                    <a:pt x="7504919" y="7795338"/>
                    <a:pt x="7449038" y="7851218"/>
                    <a:pt x="7380459" y="785121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619273" y="1501563"/>
            <a:ext cx="7640027" cy="7238153"/>
            <a:chOff x="0" y="0"/>
            <a:chExt cx="10186702" cy="9650871"/>
          </a:xfrm>
        </p:grpSpPr>
        <p:sp>
          <p:nvSpPr>
            <p:cNvPr id="5" name="AutoShape 5"/>
            <p:cNvSpPr/>
            <p:nvPr/>
          </p:nvSpPr>
          <p:spPr>
            <a:xfrm>
              <a:off x="2532" y="1154289"/>
              <a:ext cx="10184170" cy="0"/>
            </a:xfrm>
            <a:prstGeom prst="line">
              <a:avLst/>
            </a:prstGeom>
            <a:ln w="101600" cap="rnd">
              <a:solidFill>
                <a:srgbClr val="F2F3F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" name="AutoShape 6"/>
            <p:cNvSpPr/>
            <p:nvPr/>
          </p:nvSpPr>
          <p:spPr>
            <a:xfrm>
              <a:off x="2532" y="2989862"/>
              <a:ext cx="10184170" cy="0"/>
            </a:xfrm>
            <a:prstGeom prst="line">
              <a:avLst/>
            </a:prstGeom>
            <a:ln w="101600" cap="rnd">
              <a:solidFill>
                <a:srgbClr val="F2F3F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AutoShape 7"/>
            <p:cNvSpPr/>
            <p:nvPr/>
          </p:nvSpPr>
          <p:spPr>
            <a:xfrm>
              <a:off x="2532" y="4825435"/>
              <a:ext cx="10184170" cy="0"/>
            </a:xfrm>
            <a:prstGeom prst="line">
              <a:avLst/>
            </a:prstGeom>
            <a:ln w="101600" cap="rnd">
              <a:solidFill>
                <a:srgbClr val="F2F3F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" name="AutoShape 8"/>
            <p:cNvSpPr/>
            <p:nvPr/>
          </p:nvSpPr>
          <p:spPr>
            <a:xfrm>
              <a:off x="0" y="6661009"/>
              <a:ext cx="10186702" cy="0"/>
            </a:xfrm>
            <a:prstGeom prst="line">
              <a:avLst/>
            </a:prstGeom>
            <a:ln w="101600" cap="rnd">
              <a:solidFill>
                <a:srgbClr val="F2F3F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" name="AutoShape 9"/>
            <p:cNvSpPr/>
            <p:nvPr/>
          </p:nvSpPr>
          <p:spPr>
            <a:xfrm>
              <a:off x="308" y="8496582"/>
              <a:ext cx="10186394" cy="0"/>
            </a:xfrm>
            <a:prstGeom prst="line">
              <a:avLst/>
            </a:prstGeom>
            <a:ln w="101600" cap="rnd">
              <a:solidFill>
                <a:srgbClr val="F2F3F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532" y="-47625"/>
              <a:ext cx="9147738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0E2C4B"/>
                  </a:solidFill>
                  <a:latin typeface="Muli"/>
                  <a:ea typeface="Muli"/>
                  <a:cs typeface="Muli"/>
                  <a:sym typeface="Muli"/>
                </a:rPr>
                <a:t>Pembuka Masalah (The Hook)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32" y="1787948"/>
              <a:ext cx="9147738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0E2C4B"/>
                  </a:solidFill>
                  <a:latin typeface="Muli"/>
                  <a:ea typeface="Muli"/>
                  <a:cs typeface="Muli"/>
                  <a:sym typeface="Muli"/>
                </a:rPr>
                <a:t>Momen "Aha!" (Solusinya)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32" y="3623522"/>
              <a:ext cx="9147738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0E2C4B"/>
                  </a:solidFill>
                  <a:latin typeface="Muli"/>
                  <a:ea typeface="Muli"/>
                  <a:cs typeface="Muli"/>
                  <a:sym typeface="Muli"/>
                </a:rPr>
                <a:t>Pengenalan Konsep Utama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32" y="5459095"/>
              <a:ext cx="9147738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0E2C4B"/>
                  </a:solidFill>
                  <a:latin typeface="Muli"/>
                  <a:ea typeface="Muli"/>
                  <a:cs typeface="Muli"/>
                  <a:sym typeface="Muli"/>
                </a:rPr>
                <a:t>Cara Kerjanya (How It Works)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532" y="7294668"/>
              <a:ext cx="9147738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0E2C4B"/>
                  </a:solidFill>
                  <a:latin typeface="Muli"/>
                  <a:ea typeface="Muli"/>
                  <a:cs typeface="Muli"/>
                  <a:sym typeface="Muli"/>
                </a:rPr>
                <a:t>Manfaat Bergabung (The Benefits)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32" y="9130241"/>
              <a:ext cx="9147738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0E2C4B"/>
                  </a:solidFill>
                  <a:latin typeface="Muli"/>
                  <a:ea typeface="Muli"/>
                  <a:cs typeface="Muli"/>
                  <a:sym typeface="Muli"/>
                </a:rPr>
                <a:t>Penutup &amp; Terima Kasih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28700" y="1249503"/>
            <a:ext cx="6173123" cy="3373297"/>
            <a:chOff x="0" y="0"/>
            <a:chExt cx="8230830" cy="449773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3397063"/>
              <a:ext cx="6702579" cy="1100667"/>
              <a:chOff x="0" y="0"/>
              <a:chExt cx="4021547" cy="6604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4021548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4021548" h="660400">
                    <a:moveTo>
                      <a:pt x="3897087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3897088" y="0"/>
                    </a:lnTo>
                    <a:cubicBezTo>
                      <a:pt x="3965668" y="0"/>
                      <a:pt x="4021548" y="55880"/>
                      <a:pt x="4021548" y="124460"/>
                    </a:cubicBezTo>
                    <a:lnTo>
                      <a:pt x="4021548" y="535940"/>
                    </a:lnTo>
                    <a:cubicBezTo>
                      <a:pt x="4021548" y="604520"/>
                      <a:pt x="3965668" y="660400"/>
                      <a:pt x="3897088" y="660400"/>
                    </a:cubicBezTo>
                    <a:close/>
                  </a:path>
                </a:pathLst>
              </a:custGeom>
              <a:solidFill>
                <a:srgbClr val="F36825"/>
              </a:solidFill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0" y="0"/>
              <a:ext cx="8230830" cy="2844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400"/>
                </a:lnSpc>
              </a:pPr>
              <a:r>
                <a:rPr lang="en-US" sz="7000" b="1">
                  <a:solidFill>
                    <a:srgbClr val="0E2C4B"/>
                  </a:solidFill>
                  <a:latin typeface="Muli Ultra-Bold"/>
                  <a:ea typeface="Muli Ultra-Bold"/>
                  <a:cs typeface="Muli Ultra-Bold"/>
                  <a:sym typeface="Muli Ultra-Bold"/>
                </a:rPr>
                <a:t>Daftar</a:t>
              </a:r>
            </a:p>
            <a:p>
              <a:pPr algn="l">
                <a:lnSpc>
                  <a:spcPts val="8400"/>
                </a:lnSpc>
              </a:pPr>
              <a:r>
                <a:rPr lang="en-US" sz="7000" b="1">
                  <a:solidFill>
                    <a:srgbClr val="0E2C4B"/>
                  </a:solidFill>
                  <a:latin typeface="Muli Ultra-Bold"/>
                  <a:ea typeface="Muli Ultra-Bold"/>
                  <a:cs typeface="Muli Ultra-Bold"/>
                  <a:sym typeface="Muli Ultra-Bold"/>
                </a:rPr>
                <a:t>Isi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93230" y="3632366"/>
              <a:ext cx="5587728" cy="559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800" b="1">
                  <a:solidFill>
                    <a:srgbClr val="FFFFFF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Bahan-bahan diskusi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747484"/>
            <a:ext cx="7549245" cy="7148517"/>
            <a:chOff x="0" y="0"/>
            <a:chExt cx="10065660" cy="9531355"/>
          </a:xfrm>
        </p:grpSpPr>
        <p:grpSp>
          <p:nvGrpSpPr>
            <p:cNvPr id="3" name="Group 3"/>
            <p:cNvGrpSpPr/>
            <p:nvPr/>
          </p:nvGrpSpPr>
          <p:grpSpPr>
            <a:xfrm>
              <a:off x="762346" y="0"/>
              <a:ext cx="9303314" cy="9303314"/>
              <a:chOff x="0" y="0"/>
              <a:chExt cx="6350000" cy="63500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6EBE7"/>
              </a:solidFill>
            </p:spPr>
          </p:sp>
        </p:grpSp>
        <p:sp>
          <p:nvSpPr>
            <p:cNvPr id="5" name="Freeform 5"/>
            <p:cNvSpPr/>
            <p:nvPr/>
          </p:nvSpPr>
          <p:spPr>
            <a:xfrm flipH="1">
              <a:off x="0" y="6584578"/>
              <a:ext cx="8490115" cy="2946777"/>
            </a:xfrm>
            <a:custGeom>
              <a:avLst/>
              <a:gdLst/>
              <a:ahLst/>
              <a:cxnLst/>
              <a:rect l="l" t="t" r="r" b="b"/>
              <a:pathLst>
                <a:path w="8490115" h="2946777">
                  <a:moveTo>
                    <a:pt x="8490115" y="0"/>
                  </a:moveTo>
                  <a:lnTo>
                    <a:pt x="0" y="0"/>
                  </a:lnTo>
                  <a:lnTo>
                    <a:pt x="0" y="2946777"/>
                  </a:lnTo>
                  <a:lnTo>
                    <a:pt x="8490115" y="2946777"/>
                  </a:lnTo>
                  <a:lnTo>
                    <a:pt x="8490115" y="0"/>
                  </a:lnTo>
                  <a:close/>
                </a:path>
              </a:pathLst>
            </a:custGeom>
            <a:blipFill>
              <a:blip r:embed="rId2">
                <a:alphaModFix amt="51000"/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1360379"/>
              <a:ext cx="8577310" cy="7805352"/>
            </a:xfrm>
            <a:custGeom>
              <a:avLst/>
              <a:gdLst/>
              <a:ahLst/>
              <a:cxnLst/>
              <a:rect l="l" t="t" r="r" b="b"/>
              <a:pathLst>
                <a:path w="8577310" h="7805352">
                  <a:moveTo>
                    <a:pt x="0" y="0"/>
                  </a:moveTo>
                  <a:lnTo>
                    <a:pt x="8577310" y="0"/>
                  </a:lnTo>
                  <a:lnTo>
                    <a:pt x="8577310" y="7805351"/>
                  </a:lnTo>
                  <a:lnTo>
                    <a:pt x="0" y="78053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9144000" y="3866797"/>
            <a:ext cx="8321660" cy="2553406"/>
            <a:chOff x="0" y="0"/>
            <a:chExt cx="11095547" cy="3404542"/>
          </a:xfrm>
        </p:grpSpPr>
        <p:sp>
          <p:nvSpPr>
            <p:cNvPr id="8" name="TextBox 8"/>
            <p:cNvSpPr txBox="1"/>
            <p:nvPr/>
          </p:nvSpPr>
          <p:spPr>
            <a:xfrm>
              <a:off x="0" y="0"/>
              <a:ext cx="11095547" cy="850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0E2C4B"/>
                  </a:solidFill>
                  <a:latin typeface="Muli Ultra-Bold"/>
                  <a:ea typeface="Muli Ultra-Bold"/>
                  <a:cs typeface="Muli Ultra-Bold"/>
                  <a:sym typeface="Muli Ultra-Bold"/>
                </a:rPr>
                <a:t>Pembuka Masalah (The Hook)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507796"/>
              <a:ext cx="10241479" cy="2201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8160" lvl="1" indent="-259080" algn="l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E2C4B"/>
                  </a:solidFill>
                  <a:latin typeface="Muli"/>
                  <a:ea typeface="Muli"/>
                  <a:cs typeface="Muli"/>
                  <a:sym typeface="Muli"/>
                </a:rPr>
                <a:t>Belajar Sendirian = Mentok</a:t>
              </a:r>
            </a:p>
            <a:p>
              <a:pPr marL="518160" lvl="1" indent="-259080" algn="l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E2C4B"/>
                  </a:solidFill>
                  <a:latin typeface="Muli"/>
                  <a:ea typeface="Muli"/>
                  <a:cs typeface="Muli"/>
                  <a:sym typeface="Muli"/>
                </a:rPr>
                <a:t>Ikut Bootcamp = Mahal</a:t>
              </a:r>
            </a:p>
            <a:p>
              <a:pPr marL="518160" lvl="1" indent="-259080" algn="l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E2C4B"/>
                  </a:solidFill>
                  <a:latin typeface="Muli"/>
                  <a:ea typeface="Muli"/>
                  <a:cs typeface="Muli"/>
                  <a:sym typeface="Muli"/>
                </a:rPr>
                <a:t>Kebanyakan Teori, Minim Praktik</a:t>
              </a:r>
            </a:p>
            <a:p>
              <a:pPr algn="l">
                <a:lnSpc>
                  <a:spcPts val="3359"/>
                </a:lnSpc>
              </a:pPr>
              <a:endParaRPr lang="en-US" sz="2400">
                <a:solidFill>
                  <a:srgbClr val="0E2C4B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3797" y="236488"/>
            <a:ext cx="8674628" cy="9814023"/>
            <a:chOff x="0" y="0"/>
            <a:chExt cx="6939702" cy="78512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39703" cy="7851218"/>
            </a:xfrm>
            <a:custGeom>
              <a:avLst/>
              <a:gdLst/>
              <a:ahLst/>
              <a:cxnLst/>
              <a:rect l="l" t="t" r="r" b="b"/>
              <a:pathLst>
                <a:path w="6939703" h="7851218">
                  <a:moveTo>
                    <a:pt x="6815242" y="7851218"/>
                  </a:moveTo>
                  <a:lnTo>
                    <a:pt x="124460" y="7851218"/>
                  </a:lnTo>
                  <a:cubicBezTo>
                    <a:pt x="55880" y="7851218"/>
                    <a:pt x="0" y="7795338"/>
                    <a:pt x="0" y="772675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815242" y="0"/>
                  </a:lnTo>
                  <a:cubicBezTo>
                    <a:pt x="6883822" y="0"/>
                    <a:pt x="6939703" y="55880"/>
                    <a:pt x="6939703" y="124460"/>
                  </a:cubicBezTo>
                  <a:lnTo>
                    <a:pt x="6939703" y="7726759"/>
                  </a:lnTo>
                  <a:cubicBezTo>
                    <a:pt x="6939703" y="7795338"/>
                    <a:pt x="6883822" y="7851218"/>
                    <a:pt x="6815242" y="785121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405191" y="1614354"/>
            <a:ext cx="6411925" cy="152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0E2C4B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Momen "Aha!" (Solusinya)</a:t>
            </a:r>
          </a:p>
        </p:txBody>
      </p:sp>
      <p:sp>
        <p:nvSpPr>
          <p:cNvPr id="5" name="AutoShape 5"/>
          <p:cNvSpPr/>
          <p:nvPr/>
        </p:nvSpPr>
        <p:spPr>
          <a:xfrm>
            <a:off x="313797" y="4232757"/>
            <a:ext cx="8674628" cy="0"/>
          </a:xfrm>
          <a:prstGeom prst="line">
            <a:avLst/>
          </a:prstGeom>
          <a:ln w="76200" cap="flat">
            <a:solidFill>
              <a:srgbClr val="F2F3F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405191" y="5616829"/>
            <a:ext cx="6411925" cy="1663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E2C4B"/>
                </a:solidFill>
                <a:latin typeface="Muli"/>
                <a:ea typeface="Muli"/>
                <a:cs typeface="Muli"/>
                <a:sym typeface="Muli"/>
              </a:rPr>
              <a:t>Masak bareng bareng (sharing skill masing-masing)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E2C4B"/>
                </a:solidFill>
                <a:latin typeface="Muli"/>
                <a:ea typeface="Muli"/>
                <a:cs typeface="Muli"/>
                <a:sym typeface="Muli"/>
              </a:rPr>
              <a:t>garap projek sharing dari awal sampe akhir</a:t>
            </a:r>
          </a:p>
        </p:txBody>
      </p:sp>
      <p:sp>
        <p:nvSpPr>
          <p:cNvPr id="7" name="AutoShape 7"/>
          <p:cNvSpPr/>
          <p:nvPr/>
        </p:nvSpPr>
        <p:spPr>
          <a:xfrm>
            <a:off x="9299575" y="4232757"/>
            <a:ext cx="8674628" cy="0"/>
          </a:xfrm>
          <a:prstGeom prst="line">
            <a:avLst/>
          </a:prstGeom>
          <a:ln w="76200" cap="flat">
            <a:solidFill>
              <a:srgbClr val="F2F3F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9299575" y="2278986"/>
            <a:ext cx="8441042" cy="5729027"/>
          </a:xfrm>
          <a:custGeom>
            <a:avLst/>
            <a:gdLst/>
            <a:ahLst/>
            <a:cxnLst/>
            <a:rect l="l" t="t" r="r" b="b"/>
            <a:pathLst>
              <a:path w="8441042" h="5729027">
                <a:moveTo>
                  <a:pt x="0" y="0"/>
                </a:moveTo>
                <a:lnTo>
                  <a:pt x="8441042" y="0"/>
                </a:lnTo>
                <a:lnTo>
                  <a:pt x="8441042" y="5729028"/>
                </a:lnTo>
                <a:lnTo>
                  <a:pt x="0" y="57290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" y="3198199"/>
            <a:ext cx="5972525" cy="2877346"/>
            <a:chOff x="0" y="0"/>
            <a:chExt cx="4778020" cy="23018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78020" cy="2301877"/>
            </a:xfrm>
            <a:custGeom>
              <a:avLst/>
              <a:gdLst/>
              <a:ahLst/>
              <a:cxnLst/>
              <a:rect l="l" t="t" r="r" b="b"/>
              <a:pathLst>
                <a:path w="4778020" h="2301877">
                  <a:moveTo>
                    <a:pt x="4653560" y="2301877"/>
                  </a:moveTo>
                  <a:lnTo>
                    <a:pt x="124460" y="2301877"/>
                  </a:lnTo>
                  <a:cubicBezTo>
                    <a:pt x="55880" y="2301877"/>
                    <a:pt x="0" y="2245997"/>
                    <a:pt x="0" y="217741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653561" y="0"/>
                  </a:lnTo>
                  <a:cubicBezTo>
                    <a:pt x="4722140" y="0"/>
                    <a:pt x="4778020" y="55880"/>
                    <a:pt x="4778020" y="124460"/>
                  </a:cubicBezTo>
                  <a:lnTo>
                    <a:pt x="4778020" y="2177417"/>
                  </a:lnTo>
                  <a:cubicBezTo>
                    <a:pt x="4778020" y="2245997"/>
                    <a:pt x="4722140" y="2301877"/>
                    <a:pt x="4653561" y="230187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80975" y="6361904"/>
            <a:ext cx="5972525" cy="2877346"/>
            <a:chOff x="0" y="0"/>
            <a:chExt cx="4778020" cy="230187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778020" cy="2301877"/>
            </a:xfrm>
            <a:custGeom>
              <a:avLst/>
              <a:gdLst/>
              <a:ahLst/>
              <a:cxnLst/>
              <a:rect l="l" t="t" r="r" b="b"/>
              <a:pathLst>
                <a:path w="4778020" h="2301877">
                  <a:moveTo>
                    <a:pt x="4653560" y="2301877"/>
                  </a:moveTo>
                  <a:lnTo>
                    <a:pt x="124460" y="2301877"/>
                  </a:lnTo>
                  <a:cubicBezTo>
                    <a:pt x="55880" y="2301877"/>
                    <a:pt x="0" y="2245997"/>
                    <a:pt x="0" y="217741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653561" y="0"/>
                  </a:lnTo>
                  <a:cubicBezTo>
                    <a:pt x="4722140" y="0"/>
                    <a:pt x="4778020" y="55880"/>
                    <a:pt x="4778020" y="124460"/>
                  </a:cubicBezTo>
                  <a:lnTo>
                    <a:pt x="4778020" y="2177417"/>
                  </a:lnTo>
                  <a:cubicBezTo>
                    <a:pt x="4778020" y="2245997"/>
                    <a:pt x="4722140" y="2301877"/>
                    <a:pt x="4653561" y="230187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392070" y="3198199"/>
            <a:ext cx="5972525" cy="2877346"/>
            <a:chOff x="0" y="0"/>
            <a:chExt cx="4778020" cy="230187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778020" cy="2301877"/>
            </a:xfrm>
            <a:custGeom>
              <a:avLst/>
              <a:gdLst/>
              <a:ahLst/>
              <a:cxnLst/>
              <a:rect l="l" t="t" r="r" b="b"/>
              <a:pathLst>
                <a:path w="4778020" h="2301877">
                  <a:moveTo>
                    <a:pt x="4653560" y="2301877"/>
                  </a:moveTo>
                  <a:lnTo>
                    <a:pt x="124460" y="2301877"/>
                  </a:lnTo>
                  <a:cubicBezTo>
                    <a:pt x="55880" y="2301877"/>
                    <a:pt x="0" y="2245997"/>
                    <a:pt x="0" y="217741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653561" y="0"/>
                  </a:lnTo>
                  <a:cubicBezTo>
                    <a:pt x="4722140" y="0"/>
                    <a:pt x="4778020" y="55880"/>
                    <a:pt x="4778020" y="124460"/>
                  </a:cubicBezTo>
                  <a:lnTo>
                    <a:pt x="4778020" y="2177417"/>
                  </a:lnTo>
                  <a:cubicBezTo>
                    <a:pt x="4778020" y="2245997"/>
                    <a:pt x="4722140" y="2301877"/>
                    <a:pt x="4653561" y="230187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392070" y="6361904"/>
            <a:ext cx="5972525" cy="2877346"/>
            <a:chOff x="0" y="0"/>
            <a:chExt cx="4778020" cy="230187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778020" cy="2301877"/>
            </a:xfrm>
            <a:custGeom>
              <a:avLst/>
              <a:gdLst/>
              <a:ahLst/>
              <a:cxnLst/>
              <a:rect l="l" t="t" r="r" b="b"/>
              <a:pathLst>
                <a:path w="4778020" h="2301877">
                  <a:moveTo>
                    <a:pt x="4653560" y="2301877"/>
                  </a:moveTo>
                  <a:lnTo>
                    <a:pt x="124460" y="2301877"/>
                  </a:lnTo>
                  <a:cubicBezTo>
                    <a:pt x="55880" y="2301877"/>
                    <a:pt x="0" y="2245997"/>
                    <a:pt x="0" y="217741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653561" y="0"/>
                  </a:lnTo>
                  <a:cubicBezTo>
                    <a:pt x="4722140" y="0"/>
                    <a:pt x="4778020" y="55880"/>
                    <a:pt x="4778020" y="124460"/>
                  </a:cubicBezTo>
                  <a:lnTo>
                    <a:pt x="4778020" y="2177417"/>
                  </a:lnTo>
                  <a:cubicBezTo>
                    <a:pt x="4778020" y="2245997"/>
                    <a:pt x="4722140" y="2301877"/>
                    <a:pt x="4653561" y="230187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2631740" y="3198199"/>
            <a:ext cx="5208628" cy="6041050"/>
            <a:chOff x="0" y="0"/>
            <a:chExt cx="4166903" cy="4832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166903" cy="4832840"/>
            </a:xfrm>
            <a:custGeom>
              <a:avLst/>
              <a:gdLst/>
              <a:ahLst/>
              <a:cxnLst/>
              <a:rect l="l" t="t" r="r" b="b"/>
              <a:pathLst>
                <a:path w="4166903" h="4832840">
                  <a:moveTo>
                    <a:pt x="4042442" y="4832840"/>
                  </a:moveTo>
                  <a:lnTo>
                    <a:pt x="124460" y="4832840"/>
                  </a:lnTo>
                  <a:cubicBezTo>
                    <a:pt x="55880" y="4832840"/>
                    <a:pt x="0" y="4776960"/>
                    <a:pt x="0" y="470838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042443" y="0"/>
                  </a:lnTo>
                  <a:cubicBezTo>
                    <a:pt x="4111023" y="0"/>
                    <a:pt x="4166903" y="55880"/>
                    <a:pt x="4166903" y="124460"/>
                  </a:cubicBezTo>
                  <a:lnTo>
                    <a:pt x="4166903" y="4708380"/>
                  </a:lnTo>
                  <a:cubicBezTo>
                    <a:pt x="4166903" y="4776960"/>
                    <a:pt x="4111023" y="4832840"/>
                    <a:pt x="4042443" y="48328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028700" y="1028700"/>
            <a:ext cx="11483511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 b="1">
                <a:solidFill>
                  <a:srgbClr val="0E2C4B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Pengenalan Konsep Utama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81084" y="3552436"/>
            <a:ext cx="4772452" cy="2340839"/>
            <a:chOff x="0" y="0"/>
            <a:chExt cx="6363270" cy="3121118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1843010" cy="691386"/>
              <a:chOff x="0" y="0"/>
              <a:chExt cx="1760412" cy="6604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760412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1760412" h="660400">
                    <a:moveTo>
                      <a:pt x="1635952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635952" y="0"/>
                    </a:lnTo>
                    <a:cubicBezTo>
                      <a:pt x="1704532" y="0"/>
                      <a:pt x="1760412" y="55880"/>
                      <a:pt x="1760412" y="124460"/>
                    </a:cubicBezTo>
                    <a:lnTo>
                      <a:pt x="1760412" y="535940"/>
                    </a:lnTo>
                    <a:cubicBezTo>
                      <a:pt x="1760412" y="604520"/>
                      <a:pt x="1704532" y="660400"/>
                      <a:pt x="1635952" y="660400"/>
                    </a:cubicBezTo>
                    <a:close/>
                  </a:path>
                </a:pathLst>
              </a:custGeom>
              <a:solidFill>
                <a:srgbClr val="EFF9FD"/>
              </a:solidFill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204538" y="108626"/>
              <a:ext cx="1433934" cy="4140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90"/>
                </a:lnSpc>
              </a:pPr>
              <a:r>
                <a:rPr lang="en-US" sz="1850" b="1">
                  <a:solidFill>
                    <a:srgbClr val="0E2C4B"/>
                  </a:solidFill>
                  <a:latin typeface="Muli Ultra-Bold"/>
                  <a:ea typeface="Muli Ultra-Bold"/>
                  <a:cs typeface="Muli Ultra-Bold"/>
                  <a:sym typeface="Muli Ultra-Bold"/>
                </a:rPr>
                <a:t>TAHAP 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743488"/>
              <a:ext cx="6363270" cy="13895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E2C4B"/>
                  </a:solidFill>
                  <a:latin typeface="Muli"/>
                  <a:ea typeface="Muli"/>
                  <a:cs typeface="Muli"/>
                  <a:sym typeface="Muli"/>
                </a:rPr>
                <a:t> Semua dimulai dari rasa penasaran. Komunitas memilih topik "daging" (skill praktis) yang paling relevan 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045162"/>
              <a:ext cx="636327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1">
                  <a:solidFill>
                    <a:srgbClr val="0E2C4B"/>
                  </a:solidFill>
                  <a:latin typeface="Muli Bold"/>
                  <a:ea typeface="Muli Bold"/>
                  <a:cs typeface="Muli Bold"/>
                  <a:sym typeface="Muli Bold"/>
                </a:rPr>
                <a:t>Pilih Menu Daging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992106" y="3472452"/>
            <a:ext cx="4772452" cy="2545944"/>
            <a:chOff x="0" y="0"/>
            <a:chExt cx="6363270" cy="3394592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1843010" cy="691386"/>
              <a:chOff x="0" y="0"/>
              <a:chExt cx="1760412" cy="6604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760412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1760412" h="660400">
                    <a:moveTo>
                      <a:pt x="1635952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635952" y="0"/>
                    </a:lnTo>
                    <a:cubicBezTo>
                      <a:pt x="1704532" y="0"/>
                      <a:pt x="1760412" y="55880"/>
                      <a:pt x="1760412" y="124460"/>
                    </a:cubicBezTo>
                    <a:lnTo>
                      <a:pt x="1760412" y="535940"/>
                    </a:lnTo>
                    <a:cubicBezTo>
                      <a:pt x="1760412" y="604520"/>
                      <a:pt x="1704532" y="660400"/>
                      <a:pt x="1635952" y="660400"/>
                    </a:cubicBezTo>
                    <a:close/>
                  </a:path>
                </a:pathLst>
              </a:custGeom>
              <a:solidFill>
                <a:srgbClr val="EFF9FD"/>
              </a:solidFill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204538" y="108626"/>
              <a:ext cx="1433934" cy="4140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90"/>
                </a:lnSpc>
              </a:pPr>
              <a:r>
                <a:rPr lang="en-US" sz="1850" b="1">
                  <a:solidFill>
                    <a:srgbClr val="0E2C4B"/>
                  </a:solidFill>
                  <a:latin typeface="Muli Ultra-Bold"/>
                  <a:ea typeface="Muli Ultra-Bold"/>
                  <a:cs typeface="Muli Ultra-Bold"/>
                  <a:sym typeface="Muli Ultra-Bold"/>
                </a:rPr>
                <a:t>TAHAP 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762538"/>
              <a:ext cx="6363270" cy="16440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E2C4B"/>
                  </a:solidFill>
                  <a:latin typeface="Muli"/>
                  <a:ea typeface="Muli"/>
                  <a:cs typeface="Muli"/>
                  <a:sym typeface="Muli"/>
                </a:rPr>
                <a:t>Di hari Sabtu, kita kumpul di "dapur" (sesi online/offline). Suasananya santai, interaktif, dan dua arah. Bukan kayak kuliah, tapi lebih kayak nongkrong produktif.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1045162"/>
              <a:ext cx="636327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1">
                  <a:solidFill>
                    <a:srgbClr val="0E2C4B"/>
                  </a:solidFill>
                  <a:latin typeface="Muli Bold"/>
                  <a:ea typeface="Muli Bold"/>
                  <a:cs typeface="Muli Bold"/>
                  <a:sym typeface="Muli Bold"/>
                </a:rPr>
                <a:t>Masuk ke Dapur.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81084" y="6565694"/>
            <a:ext cx="4772452" cy="2551468"/>
            <a:chOff x="0" y="0"/>
            <a:chExt cx="6363270" cy="3401957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1843010" cy="691386"/>
              <a:chOff x="0" y="0"/>
              <a:chExt cx="1760412" cy="6604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760412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1760412" h="660400">
                    <a:moveTo>
                      <a:pt x="1635952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635952" y="0"/>
                    </a:lnTo>
                    <a:cubicBezTo>
                      <a:pt x="1704532" y="0"/>
                      <a:pt x="1760412" y="55880"/>
                      <a:pt x="1760412" y="124460"/>
                    </a:cubicBezTo>
                    <a:lnTo>
                      <a:pt x="1760412" y="535940"/>
                    </a:lnTo>
                    <a:cubicBezTo>
                      <a:pt x="1760412" y="604520"/>
                      <a:pt x="1704532" y="660400"/>
                      <a:pt x="1635952" y="660400"/>
                    </a:cubicBezTo>
                    <a:close/>
                  </a:path>
                </a:pathLst>
              </a:custGeom>
              <a:solidFill>
                <a:srgbClr val="EFF9FD"/>
              </a:solidFill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204538" y="108626"/>
              <a:ext cx="1433934" cy="4140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90"/>
                </a:lnSpc>
              </a:pPr>
              <a:r>
                <a:rPr lang="en-US" sz="1850" b="1">
                  <a:solidFill>
                    <a:srgbClr val="0E2C4B"/>
                  </a:solidFill>
                  <a:latin typeface="Muli Ultra-Bold"/>
                  <a:ea typeface="Muli Ultra-Bold"/>
                  <a:cs typeface="Muli Ultra-Bold"/>
                  <a:sym typeface="Muli Ultra-Bold"/>
                </a:rPr>
                <a:t>TAHAP 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1763923"/>
              <a:ext cx="6363270" cy="16440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E2C4B"/>
                  </a:solidFill>
                  <a:latin typeface="Muli"/>
                  <a:ea typeface="Muli"/>
                  <a:cs typeface="Muli"/>
                  <a:sym typeface="Muli"/>
                </a:rPr>
                <a:t>Seorang "Koki" memandu proses "memasak", membagikan inti dari sebuah skill—bukan cuma teori, tapi resep praktis, tips &amp; trik, dan studi kasus nyata.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1045162"/>
              <a:ext cx="6363270" cy="5144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76"/>
                </a:lnSpc>
              </a:pPr>
              <a:r>
                <a:rPr lang="en-US" sz="2340" b="1">
                  <a:solidFill>
                    <a:srgbClr val="0E2C4B"/>
                  </a:solidFill>
                  <a:latin typeface="Muli Bold"/>
                  <a:ea typeface="Muli Bold"/>
                  <a:cs typeface="Muli Bold"/>
                  <a:sym typeface="Muli Bold"/>
                </a:rPr>
                <a:t>Proses Memasak Inti Skill.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992106" y="6598056"/>
            <a:ext cx="4772452" cy="2545944"/>
            <a:chOff x="0" y="0"/>
            <a:chExt cx="6363270" cy="3394592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0"/>
              <a:ext cx="1843010" cy="691386"/>
              <a:chOff x="0" y="0"/>
              <a:chExt cx="1760412" cy="6604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1760412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1760412" h="660400">
                    <a:moveTo>
                      <a:pt x="1635952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635952" y="0"/>
                    </a:lnTo>
                    <a:cubicBezTo>
                      <a:pt x="1704532" y="0"/>
                      <a:pt x="1760412" y="55880"/>
                      <a:pt x="1760412" y="124460"/>
                    </a:cubicBezTo>
                    <a:lnTo>
                      <a:pt x="1760412" y="535940"/>
                    </a:lnTo>
                    <a:cubicBezTo>
                      <a:pt x="1760412" y="604520"/>
                      <a:pt x="1704532" y="660400"/>
                      <a:pt x="1635952" y="660400"/>
                    </a:cubicBezTo>
                    <a:close/>
                  </a:path>
                </a:pathLst>
              </a:custGeom>
              <a:solidFill>
                <a:srgbClr val="EFF9FD"/>
              </a:solidFill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217238" y="108626"/>
              <a:ext cx="1433934" cy="4140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90"/>
                </a:lnSpc>
              </a:pPr>
              <a:r>
                <a:rPr lang="en-US" sz="1850" b="1">
                  <a:solidFill>
                    <a:srgbClr val="0E2C4B"/>
                  </a:solidFill>
                  <a:latin typeface="Muli Ultra-Bold"/>
                  <a:ea typeface="Muli Ultra-Bold"/>
                  <a:cs typeface="Muli Ultra-Bold"/>
                  <a:sym typeface="Muli Ultra-Bold"/>
                </a:rPr>
                <a:t>TAHAP 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1762538"/>
              <a:ext cx="6363270" cy="16440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E2C4B"/>
                  </a:solidFill>
                  <a:latin typeface="Muli"/>
                  <a:ea typeface="Muli"/>
                  <a:cs typeface="Muli"/>
                  <a:sym typeface="Muli"/>
                </a:rPr>
                <a:t>Setelah "daging" disajikan, diskusi lanjut di grup komunitas. Di sinilah tempat aman untuk nanya, berbagi hasil praktik, dan kolaborasi tanpa takut di-judge.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1045162"/>
              <a:ext cx="636327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1">
                  <a:solidFill>
                    <a:srgbClr val="0E2C4B"/>
                  </a:solidFill>
                  <a:latin typeface="Muli Bold"/>
                  <a:ea typeface="Muli Bold"/>
                  <a:cs typeface="Muli Bold"/>
                  <a:sym typeface="Muli Bold"/>
                </a:rPr>
                <a:t>Cicip &amp; Diskusi Lanjutan.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3110666" y="3619111"/>
            <a:ext cx="1382257" cy="518539"/>
            <a:chOff x="0" y="0"/>
            <a:chExt cx="1760412" cy="6604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760412" cy="660400"/>
            </a:xfrm>
            <a:custGeom>
              <a:avLst/>
              <a:gdLst/>
              <a:ahLst/>
              <a:cxnLst/>
              <a:rect l="l" t="t" r="r" b="b"/>
              <a:pathLst>
                <a:path w="1760412" h="660400">
                  <a:moveTo>
                    <a:pt x="1635952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635952" y="0"/>
                  </a:lnTo>
                  <a:cubicBezTo>
                    <a:pt x="1704532" y="0"/>
                    <a:pt x="1760412" y="55880"/>
                    <a:pt x="1760412" y="124460"/>
                  </a:cubicBezTo>
                  <a:lnTo>
                    <a:pt x="1760412" y="535940"/>
                  </a:lnTo>
                  <a:cubicBezTo>
                    <a:pt x="1760412" y="604520"/>
                    <a:pt x="1704532" y="660400"/>
                    <a:pt x="1635952" y="660400"/>
                  </a:cubicBezTo>
                  <a:close/>
                </a:path>
              </a:pathLst>
            </a:custGeom>
            <a:solidFill>
              <a:srgbClr val="EFF9FD"/>
            </a:solidFill>
          </p:spPr>
        </p:sp>
      </p:grpSp>
      <p:sp>
        <p:nvSpPr>
          <p:cNvPr id="39" name="TextBox 39"/>
          <p:cNvSpPr txBox="1"/>
          <p:nvPr/>
        </p:nvSpPr>
        <p:spPr>
          <a:xfrm>
            <a:off x="13264070" y="3691056"/>
            <a:ext cx="1075450" cy="320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0"/>
              </a:lnSpc>
            </a:pPr>
            <a:r>
              <a:rPr lang="en-US" sz="1850" b="1">
                <a:solidFill>
                  <a:srgbClr val="0E2C4B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TAHAP 5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3110666" y="5073529"/>
            <a:ext cx="3588268" cy="3037474"/>
            <a:chOff x="0" y="0"/>
            <a:chExt cx="4784357" cy="4049966"/>
          </a:xfrm>
        </p:grpSpPr>
        <p:sp>
          <p:nvSpPr>
            <p:cNvPr id="41" name="TextBox 41"/>
            <p:cNvSpPr txBox="1"/>
            <p:nvPr/>
          </p:nvSpPr>
          <p:spPr>
            <a:xfrm>
              <a:off x="0" y="650053"/>
              <a:ext cx="4784357" cy="34178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9"/>
                </a:lnSpc>
              </a:pPr>
              <a:r>
                <a:rPr lang="en-US" sz="2099">
                  <a:solidFill>
                    <a:srgbClr val="0E2C4B"/>
                  </a:solidFill>
                  <a:latin typeface="Muli"/>
                  <a:ea typeface="Muli"/>
                  <a:cs typeface="Muli"/>
                  <a:sym typeface="Muli"/>
                </a:rPr>
                <a:t>Setelah menyerap banyak "daging", giliranmu untuk berbagi! Siklus "dari kita, untuk kita" inilah yang membuat komunitas kita terus tumbuh dan berkembang.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4784357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1">
                  <a:solidFill>
                    <a:srgbClr val="0E2C4B"/>
                  </a:solidFill>
                  <a:latin typeface="Muli Bold"/>
                  <a:ea typeface="Muli Bold"/>
                  <a:cs typeface="Muli Bold"/>
                  <a:sym typeface="Muli Bold"/>
                </a:rPr>
                <a:t>Jadi Koki Berikutnya.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6698934" y="8036690"/>
            <a:ext cx="825500" cy="825500"/>
            <a:chOff x="0" y="0"/>
            <a:chExt cx="1100667" cy="1100667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1100667" cy="1100667"/>
              <a:chOff x="0" y="0"/>
              <a:chExt cx="660400" cy="6604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660400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660400">
                    <a:moveTo>
                      <a:pt x="535940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35940" y="0"/>
                    </a:lnTo>
                    <a:cubicBezTo>
                      <a:pt x="604520" y="0"/>
                      <a:pt x="660400" y="55880"/>
                      <a:pt x="660400" y="124460"/>
                    </a:cubicBezTo>
                    <a:lnTo>
                      <a:pt x="660400" y="535940"/>
                    </a:lnTo>
                    <a:cubicBezTo>
                      <a:pt x="660400" y="604520"/>
                      <a:pt x="604520" y="660400"/>
                      <a:pt x="535940" y="660400"/>
                    </a:cubicBezTo>
                    <a:close/>
                  </a:path>
                </a:pathLst>
              </a:custGeom>
              <a:solidFill>
                <a:srgbClr val="F36825"/>
              </a:solidFill>
            </p:spPr>
          </p:sp>
        </p:grpSp>
        <p:grpSp>
          <p:nvGrpSpPr>
            <p:cNvPr id="46" name="Group 46"/>
            <p:cNvGrpSpPr/>
            <p:nvPr/>
          </p:nvGrpSpPr>
          <p:grpSpPr>
            <a:xfrm rot="-5400000">
              <a:off x="436385" y="452780"/>
              <a:ext cx="290178" cy="195107"/>
              <a:chOff x="0" y="0"/>
              <a:chExt cx="1930400" cy="129794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930400" cy="1297940"/>
              </a:xfrm>
              <a:custGeom>
                <a:avLst/>
                <a:gdLst/>
                <a:ahLst/>
                <a:cxnLst/>
                <a:rect l="l" t="t" r="r" b="b"/>
                <a:pathLst>
                  <a:path w="1930400" h="1297940">
                    <a:moveTo>
                      <a:pt x="0" y="0"/>
                    </a:moveTo>
                    <a:lnTo>
                      <a:pt x="965200" y="1297940"/>
                    </a:lnTo>
                    <a:lnTo>
                      <a:pt x="19304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49948" y="236488"/>
            <a:ext cx="9524255" cy="9814023"/>
            <a:chOff x="0" y="0"/>
            <a:chExt cx="7619404" cy="78512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619404" cy="7851218"/>
            </a:xfrm>
            <a:custGeom>
              <a:avLst/>
              <a:gdLst/>
              <a:ahLst/>
              <a:cxnLst/>
              <a:rect l="l" t="t" r="r" b="b"/>
              <a:pathLst>
                <a:path w="7619404" h="7851218">
                  <a:moveTo>
                    <a:pt x="7494944" y="7851218"/>
                  </a:moveTo>
                  <a:lnTo>
                    <a:pt x="124460" y="7851218"/>
                  </a:lnTo>
                  <a:cubicBezTo>
                    <a:pt x="55880" y="7851218"/>
                    <a:pt x="0" y="7795338"/>
                    <a:pt x="0" y="772675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7494944" y="0"/>
                  </a:lnTo>
                  <a:cubicBezTo>
                    <a:pt x="7563524" y="0"/>
                    <a:pt x="7619404" y="55880"/>
                    <a:pt x="7619404" y="124460"/>
                  </a:cubicBezTo>
                  <a:lnTo>
                    <a:pt x="7619404" y="7726759"/>
                  </a:lnTo>
                  <a:cubicBezTo>
                    <a:pt x="7619404" y="7795338"/>
                    <a:pt x="7563524" y="7851218"/>
                    <a:pt x="7494944" y="785121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9610663" y="1431962"/>
            <a:ext cx="7202826" cy="6583833"/>
          </a:xfrm>
          <a:custGeom>
            <a:avLst/>
            <a:gdLst/>
            <a:ahLst/>
            <a:cxnLst/>
            <a:rect l="l" t="t" r="r" b="b"/>
            <a:pathLst>
              <a:path w="7202826" h="6583833">
                <a:moveTo>
                  <a:pt x="0" y="0"/>
                </a:moveTo>
                <a:lnTo>
                  <a:pt x="7202825" y="0"/>
                </a:lnTo>
                <a:lnTo>
                  <a:pt x="7202825" y="6583832"/>
                </a:lnTo>
                <a:lnTo>
                  <a:pt x="0" y="65838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866302"/>
            <a:ext cx="6173123" cy="1819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5950" b="1">
                <a:solidFill>
                  <a:srgbClr val="0E2C4B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Cara Kerjanya (How It Works)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4666728"/>
            <a:ext cx="6382898" cy="3192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574">
                <a:solidFill>
                  <a:srgbClr val="0E2C4B"/>
                </a:solidFill>
                <a:latin typeface="Muli"/>
                <a:ea typeface="Muli"/>
                <a:cs typeface="Muli"/>
                <a:sym typeface="Muli"/>
              </a:rPr>
              <a:t>Di sini, kita percaya kalau cara belajar terbaik itu lewat diskusi. Makanya tiap Sabtu, kita ngadain sesi sharing yang interaktif dan santai buat bedah satu skill spesifik. Uniknya, yang bagiin 'daging'-nya itu teman kita sendiri, karena di DDS semua adalah guru sekaligus murid.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4379723"/>
            <a:ext cx="5033385" cy="4878577"/>
            <a:chOff x="0" y="0"/>
            <a:chExt cx="4026708" cy="39028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26708" cy="3902862"/>
            </a:xfrm>
            <a:custGeom>
              <a:avLst/>
              <a:gdLst/>
              <a:ahLst/>
              <a:cxnLst/>
              <a:rect l="l" t="t" r="r" b="b"/>
              <a:pathLst>
                <a:path w="4026708" h="3902862">
                  <a:moveTo>
                    <a:pt x="3902248" y="3902862"/>
                  </a:moveTo>
                  <a:lnTo>
                    <a:pt x="124460" y="3902862"/>
                  </a:lnTo>
                  <a:cubicBezTo>
                    <a:pt x="55880" y="3902862"/>
                    <a:pt x="0" y="3846982"/>
                    <a:pt x="0" y="3778402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902248" y="0"/>
                  </a:lnTo>
                  <a:cubicBezTo>
                    <a:pt x="3970828" y="0"/>
                    <a:pt x="4026708" y="55880"/>
                    <a:pt x="4026708" y="124460"/>
                  </a:cubicBezTo>
                  <a:lnTo>
                    <a:pt x="4026708" y="3778402"/>
                  </a:lnTo>
                  <a:cubicBezTo>
                    <a:pt x="4026708" y="3846982"/>
                    <a:pt x="3970828" y="3902862"/>
                    <a:pt x="3902248" y="390286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627308" y="4379723"/>
            <a:ext cx="5033385" cy="4878154"/>
            <a:chOff x="0" y="0"/>
            <a:chExt cx="4026708" cy="39025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26708" cy="3902523"/>
            </a:xfrm>
            <a:custGeom>
              <a:avLst/>
              <a:gdLst/>
              <a:ahLst/>
              <a:cxnLst/>
              <a:rect l="l" t="t" r="r" b="b"/>
              <a:pathLst>
                <a:path w="4026708" h="3902523">
                  <a:moveTo>
                    <a:pt x="3902248" y="3902523"/>
                  </a:moveTo>
                  <a:lnTo>
                    <a:pt x="124460" y="3902523"/>
                  </a:lnTo>
                  <a:cubicBezTo>
                    <a:pt x="55880" y="3902523"/>
                    <a:pt x="0" y="3846643"/>
                    <a:pt x="0" y="377806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902248" y="0"/>
                  </a:lnTo>
                  <a:cubicBezTo>
                    <a:pt x="3970828" y="0"/>
                    <a:pt x="4026708" y="55880"/>
                    <a:pt x="4026708" y="124460"/>
                  </a:cubicBezTo>
                  <a:lnTo>
                    <a:pt x="4026708" y="3778064"/>
                  </a:lnTo>
                  <a:cubicBezTo>
                    <a:pt x="4026708" y="3846643"/>
                    <a:pt x="3970828" y="3902523"/>
                    <a:pt x="3902248" y="39025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225915" y="4379723"/>
            <a:ext cx="5033385" cy="4878154"/>
            <a:chOff x="0" y="0"/>
            <a:chExt cx="4026708" cy="390252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26708" cy="3902523"/>
            </a:xfrm>
            <a:custGeom>
              <a:avLst/>
              <a:gdLst/>
              <a:ahLst/>
              <a:cxnLst/>
              <a:rect l="l" t="t" r="r" b="b"/>
              <a:pathLst>
                <a:path w="4026708" h="3902523">
                  <a:moveTo>
                    <a:pt x="3902248" y="3902523"/>
                  </a:moveTo>
                  <a:lnTo>
                    <a:pt x="124460" y="3902523"/>
                  </a:lnTo>
                  <a:cubicBezTo>
                    <a:pt x="55880" y="3902523"/>
                    <a:pt x="0" y="3846643"/>
                    <a:pt x="0" y="377806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902248" y="0"/>
                  </a:lnTo>
                  <a:cubicBezTo>
                    <a:pt x="3970828" y="0"/>
                    <a:pt x="4026708" y="55880"/>
                    <a:pt x="4026708" y="124460"/>
                  </a:cubicBezTo>
                  <a:lnTo>
                    <a:pt x="4026708" y="3778064"/>
                  </a:lnTo>
                  <a:cubicBezTo>
                    <a:pt x="4026708" y="3846643"/>
                    <a:pt x="3970828" y="3902523"/>
                    <a:pt x="3902248" y="39025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028700" y="1028700"/>
            <a:ext cx="15869364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b="1">
                <a:solidFill>
                  <a:srgbClr val="0E2C4B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Manfaat Bergabung (The Benefits)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389936" y="5861553"/>
            <a:ext cx="4310914" cy="2962403"/>
            <a:chOff x="0" y="0"/>
            <a:chExt cx="5747885" cy="394987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38100"/>
              <a:ext cx="5747885" cy="9907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200" b="1">
                  <a:solidFill>
                    <a:srgbClr val="0E2C4B"/>
                  </a:solidFill>
                  <a:latin typeface="Muli Ultra-Bold"/>
                  <a:ea typeface="Muli Ultra-Bold"/>
                  <a:cs typeface="Muli Ultra-Bold"/>
                  <a:sym typeface="Muli Ultra-Bold"/>
                </a:rPr>
                <a:t> SERAP "DAGING"-NYA, BUKAN CUMA TEORINYA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450510"/>
              <a:ext cx="5747885" cy="25670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200">
                  <a:solidFill>
                    <a:srgbClr val="0E2C4B"/>
                  </a:solidFill>
                  <a:latin typeface="Muli"/>
                  <a:ea typeface="Muli"/>
                  <a:cs typeface="Muli"/>
                  <a:sym typeface="Muli"/>
                </a:rPr>
                <a:t>Dapetin ilmu inti yang udah disaring, praktis, dan siap pakai. Gak ada lagi basa-basi, langsung ke resep biar cepat jago.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988543" y="5861553"/>
            <a:ext cx="4310914" cy="2585036"/>
            <a:chOff x="0" y="0"/>
            <a:chExt cx="5747885" cy="3446715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38100"/>
              <a:ext cx="5747885" cy="9907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200" b="1">
                  <a:solidFill>
                    <a:srgbClr val="0E2C4B"/>
                  </a:solidFill>
                  <a:latin typeface="Muli Ultra-Bold"/>
                  <a:ea typeface="Muli Ultra-Bold"/>
                  <a:cs typeface="Muli Ultra-Bold"/>
                  <a:sym typeface="Muli Ultra-Bold"/>
                </a:rPr>
                <a:t>TEMUIN "DAPUR"-NYA, TEMPAT AMAN BUAT TUMBUH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455355"/>
              <a:ext cx="5747885" cy="25670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200">
                  <a:solidFill>
                    <a:srgbClr val="0E2C4B"/>
                  </a:solidFill>
                  <a:latin typeface="Muli"/>
                  <a:ea typeface="Muli"/>
                  <a:cs typeface="Muli"/>
                  <a:sym typeface="Muli"/>
                </a:rPr>
                <a:t>Masuk ke circle suportif tempat lu bisa nanya tanpa takut di-judge, ketemu teman kolaborasi, dan jadi bagian dari komunitas yang positif.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587151" y="5861553"/>
            <a:ext cx="4310914" cy="2581402"/>
            <a:chOff x="0" y="0"/>
            <a:chExt cx="5747885" cy="3441870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38100"/>
              <a:ext cx="5747885" cy="9907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200" b="1">
                  <a:solidFill>
                    <a:srgbClr val="0E2C4B"/>
                  </a:solidFill>
                  <a:latin typeface="Muli Ultra-Bold"/>
                  <a:ea typeface="Muli Ultra-Bold"/>
                  <a:cs typeface="Muli Ultra-Bold"/>
                  <a:sym typeface="Muli Ultra-Bold"/>
                </a:rPr>
                <a:t>SAJIKAN HASILNYA, BUKTIIN SKILL-MU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450510"/>
              <a:ext cx="5747885" cy="25670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200">
                  <a:solidFill>
                    <a:srgbClr val="0E2C4B"/>
                  </a:solidFill>
                  <a:latin typeface="Muli"/>
                  <a:ea typeface="Muli"/>
                  <a:cs typeface="Muli"/>
                  <a:sym typeface="Muli"/>
                </a:rPr>
                <a:t>Dari diskusi, seringkali lahir proyek bareng. Ini kesempatan emas buat nambahin portofolio dan buktiin kalau skill baru lu itu nyata dan bisa dijual.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28700" y="2785539"/>
            <a:ext cx="13713908" cy="904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59"/>
              </a:lnSpc>
            </a:pPr>
            <a:r>
              <a:rPr lang="en-US" sz="6049">
                <a:solidFill>
                  <a:srgbClr val="0E2C4B"/>
                </a:solidFill>
                <a:latin typeface="Faustina"/>
                <a:ea typeface="Faustina"/>
                <a:cs typeface="Faustina"/>
                <a:sym typeface="Faustina"/>
              </a:rPr>
              <a:t>Yang bakal dibawa pulang: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71016" y="7410359"/>
            <a:ext cx="3288284" cy="1141308"/>
          </a:xfrm>
          <a:custGeom>
            <a:avLst/>
            <a:gdLst/>
            <a:ahLst/>
            <a:cxnLst/>
            <a:rect l="l" t="t" r="r" b="b"/>
            <a:pathLst>
              <a:path w="3288284" h="1141308">
                <a:moveTo>
                  <a:pt x="0" y="0"/>
                </a:moveTo>
                <a:lnTo>
                  <a:pt x="3288284" y="0"/>
                </a:lnTo>
                <a:lnTo>
                  <a:pt x="3288284" y="1141308"/>
                </a:lnTo>
                <a:lnTo>
                  <a:pt x="0" y="1141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063954" y="2122975"/>
            <a:ext cx="12160093" cy="6041050"/>
            <a:chOff x="0" y="0"/>
            <a:chExt cx="9728074" cy="48328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728074" cy="4832840"/>
            </a:xfrm>
            <a:custGeom>
              <a:avLst/>
              <a:gdLst/>
              <a:ahLst/>
              <a:cxnLst/>
              <a:rect l="l" t="t" r="r" b="b"/>
              <a:pathLst>
                <a:path w="9728074" h="4832840">
                  <a:moveTo>
                    <a:pt x="9603614" y="4832840"/>
                  </a:moveTo>
                  <a:lnTo>
                    <a:pt x="124460" y="4832840"/>
                  </a:lnTo>
                  <a:cubicBezTo>
                    <a:pt x="55880" y="4832840"/>
                    <a:pt x="0" y="4776960"/>
                    <a:pt x="0" y="470838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9603614" y="0"/>
                  </a:lnTo>
                  <a:cubicBezTo>
                    <a:pt x="9672194" y="0"/>
                    <a:pt x="9728074" y="55880"/>
                    <a:pt x="9728074" y="124460"/>
                  </a:cubicBezTo>
                  <a:lnTo>
                    <a:pt x="9728074" y="4708380"/>
                  </a:lnTo>
                  <a:cubicBezTo>
                    <a:pt x="9728074" y="4776960"/>
                    <a:pt x="9672194" y="4832840"/>
                    <a:pt x="9603614" y="48328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5" name="Freeform 5"/>
          <p:cNvSpPr/>
          <p:nvPr/>
        </p:nvSpPr>
        <p:spPr>
          <a:xfrm flipH="1">
            <a:off x="13379131" y="5697655"/>
            <a:ext cx="2628231" cy="2635783"/>
          </a:xfrm>
          <a:custGeom>
            <a:avLst/>
            <a:gdLst/>
            <a:ahLst/>
            <a:cxnLst/>
            <a:rect l="l" t="t" r="r" b="b"/>
            <a:pathLst>
              <a:path w="2628231" h="2635783">
                <a:moveTo>
                  <a:pt x="2628231" y="0"/>
                </a:moveTo>
                <a:lnTo>
                  <a:pt x="0" y="0"/>
                </a:lnTo>
                <a:lnTo>
                  <a:pt x="0" y="2635783"/>
                </a:lnTo>
                <a:lnTo>
                  <a:pt x="2628231" y="2635783"/>
                </a:lnTo>
                <a:lnTo>
                  <a:pt x="2628231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908869" y="3556226"/>
            <a:ext cx="8470263" cy="3170738"/>
            <a:chOff x="0" y="0"/>
            <a:chExt cx="11293684" cy="4227650"/>
          </a:xfrm>
        </p:grpSpPr>
        <p:sp>
          <p:nvSpPr>
            <p:cNvPr id="7" name="TextBox 7"/>
            <p:cNvSpPr txBox="1"/>
            <p:nvPr/>
          </p:nvSpPr>
          <p:spPr>
            <a:xfrm>
              <a:off x="0" y="0"/>
              <a:ext cx="11293684" cy="1605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480"/>
                </a:lnSpc>
              </a:pPr>
              <a:r>
                <a:rPr lang="en-US" sz="7900" b="1">
                  <a:solidFill>
                    <a:srgbClr val="0E2C4B"/>
                  </a:solidFill>
                  <a:latin typeface="Muli Ultra-Bold"/>
                  <a:ea typeface="Muli Ultra-Bold"/>
                  <a:cs typeface="Muli Ultra-Bold"/>
                  <a:sym typeface="Muli Ultra-Bold"/>
                </a:rPr>
                <a:t>Ada pertanyaan?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3752952"/>
              <a:ext cx="11293684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2470041" y="2784527"/>
            <a:ext cx="2223383" cy="771699"/>
          </a:xfrm>
          <a:custGeom>
            <a:avLst/>
            <a:gdLst/>
            <a:ahLst/>
            <a:cxnLst/>
            <a:rect l="l" t="t" r="r" b="b"/>
            <a:pathLst>
              <a:path w="2223383" h="771699">
                <a:moveTo>
                  <a:pt x="0" y="0"/>
                </a:moveTo>
                <a:lnTo>
                  <a:pt x="2223383" y="0"/>
                </a:lnTo>
                <a:lnTo>
                  <a:pt x="2223383" y="771699"/>
                </a:lnTo>
                <a:lnTo>
                  <a:pt x="0" y="771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251902">
            <a:off x="2297276" y="1924267"/>
            <a:ext cx="2945311" cy="1144990"/>
          </a:xfrm>
          <a:custGeom>
            <a:avLst/>
            <a:gdLst/>
            <a:ahLst/>
            <a:cxnLst/>
            <a:rect l="l" t="t" r="r" b="b"/>
            <a:pathLst>
              <a:path w="2945311" h="1144990">
                <a:moveTo>
                  <a:pt x="0" y="0"/>
                </a:moveTo>
                <a:lnTo>
                  <a:pt x="2945311" y="0"/>
                </a:lnTo>
                <a:lnTo>
                  <a:pt x="2945311" y="1144990"/>
                </a:lnTo>
                <a:lnTo>
                  <a:pt x="0" y="11449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02244" y="4657725"/>
            <a:ext cx="11483511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80"/>
              </a:lnSpc>
            </a:pPr>
            <a:r>
              <a:rPr lang="en-US" sz="6400" b="1">
                <a:solidFill>
                  <a:srgbClr val="F36825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440</Words>
  <Application>Microsoft Office PowerPoint</Application>
  <PresentationFormat>Custom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Muli</vt:lpstr>
      <vt:lpstr>Faustina</vt:lpstr>
      <vt:lpstr>Muli Bold</vt:lpstr>
      <vt:lpstr>Arial</vt:lpstr>
      <vt:lpstr>Muli Semi-Bold</vt:lpstr>
      <vt:lpstr>Calibri</vt:lpstr>
      <vt:lpstr>Muli Ultra-Bold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Teknologi dalam Bisnis dan Pekerjaan Elemen 3D Oranye dan Biru</dc:title>
  <cp:lastModifiedBy>Muhammad Nizar Marifat</cp:lastModifiedBy>
  <cp:revision>2</cp:revision>
  <dcterms:created xsi:type="dcterms:W3CDTF">2006-08-16T00:00:00Z</dcterms:created>
  <dcterms:modified xsi:type="dcterms:W3CDTF">2025-10-09T08:04:27Z</dcterms:modified>
  <dc:identifier>DAG1RvV-Jy4</dc:identifier>
</cp:coreProperties>
</file>